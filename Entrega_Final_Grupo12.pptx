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2017</c:v>
                </c:pt>
              </c:strCache>
            </c:strRef>
          </c:tx>
          <c:spPr>
            <a:solidFill>
              <a:srgbClr val="9ECAE1"/>
            </a:solidFill>
            <a:effectLst/>
          </c:spPr>
          <c:invertIfNegative val="0"/>
          <c:cat>
            <c:strRef>
              <c:f>Sheet1!$A$2:$A$7</c:f>
              <c:strCache>
                <c:ptCount val="6"/>
                <c:pt idx="0">
                  <c:v>Prim. Incompleto</c:v>
                </c:pt>
                <c:pt idx="1">
                  <c:v>Prim. Completo</c:v>
                </c:pt>
                <c:pt idx="2">
                  <c:v>Sec. Incompleto</c:v>
                </c:pt>
                <c:pt idx="3">
                  <c:v>Sec. Completo</c:v>
                </c:pt>
                <c:pt idx="4">
                  <c:v>Sup. Incompleto</c:v>
                </c:pt>
                <c:pt idx="5">
                  <c:v>Sup. Completo</c:v>
                </c:pt>
              </c:strCache>
            </c:strRef>
          </c:cat>
          <c:val>
            <c:numRef>
              <c:f>Sheet1!$B$2:$B$7</c:f>
              <c:numCache>
                <c:formatCode>General</c:formatCode>
                <c:ptCount val="6"/>
                <c:pt idx="0">
                  <c:v>40.1</c:v>
                </c:pt>
                <c:pt idx="1">
                  <c:v>49.2</c:v>
                </c:pt>
                <c:pt idx="2">
                  <c:v>50.2</c:v>
                </c:pt>
                <c:pt idx="3">
                  <c:v>52.8</c:v>
                </c:pt>
                <c:pt idx="4">
                  <c:v>56.4</c:v>
                </c:pt>
                <c:pt idx="5">
                  <c:v>33.700000000000003</c:v>
                </c:pt>
              </c:numCache>
            </c:numRef>
          </c:val>
          <c:extLst>
            <c:ext xmlns:c16="http://schemas.microsoft.com/office/drawing/2014/chart" uri="{C3380CC4-5D6E-409C-BE32-E72D297353CC}">
              <c16:uniqueId val="{00000000-0465-4743-BD05-7E208D3202DE}"/>
            </c:ext>
          </c:extLst>
        </c:ser>
        <c:ser>
          <c:idx val="1"/>
          <c:order val="1"/>
          <c:tx>
            <c:strRef>
              <c:f>Sheet1!$C$1</c:f>
              <c:strCache>
                <c:ptCount val="1"/>
                <c:pt idx="0">
                  <c:v>2021</c:v>
                </c:pt>
              </c:strCache>
            </c:strRef>
          </c:tx>
          <c:spPr>
            <a:solidFill>
              <a:srgbClr val="4292C6"/>
            </a:solidFill>
            <a:effectLst/>
          </c:spPr>
          <c:invertIfNegative val="0"/>
          <c:cat>
            <c:strRef>
              <c:f>Sheet1!$A$2:$A$7</c:f>
              <c:strCache>
                <c:ptCount val="6"/>
                <c:pt idx="0">
                  <c:v>Prim. Incompleto</c:v>
                </c:pt>
                <c:pt idx="1">
                  <c:v>Prim. Completo</c:v>
                </c:pt>
                <c:pt idx="2">
                  <c:v>Sec. Incompleto</c:v>
                </c:pt>
                <c:pt idx="3">
                  <c:v>Sec. Completo</c:v>
                </c:pt>
                <c:pt idx="4">
                  <c:v>Sup. Incompleto</c:v>
                </c:pt>
                <c:pt idx="5">
                  <c:v>Sup. Completo</c:v>
                </c:pt>
              </c:strCache>
            </c:strRef>
          </c:cat>
          <c:val>
            <c:numRef>
              <c:f>Sheet1!$C$2:$C$7</c:f>
              <c:numCache>
                <c:formatCode>General</c:formatCode>
                <c:ptCount val="6"/>
                <c:pt idx="0">
                  <c:v>40.4</c:v>
                </c:pt>
                <c:pt idx="1">
                  <c:v>46.4</c:v>
                </c:pt>
                <c:pt idx="2">
                  <c:v>58.1</c:v>
                </c:pt>
                <c:pt idx="3">
                  <c:v>50</c:v>
                </c:pt>
                <c:pt idx="4">
                  <c:v>58.9</c:v>
                </c:pt>
                <c:pt idx="5">
                  <c:v>31.5</c:v>
                </c:pt>
              </c:numCache>
            </c:numRef>
          </c:val>
          <c:extLst>
            <c:ext xmlns:c16="http://schemas.microsoft.com/office/drawing/2014/chart" uri="{C3380CC4-5D6E-409C-BE32-E72D297353CC}">
              <c16:uniqueId val="{00000001-0465-4743-BD05-7E208D3202DE}"/>
            </c:ext>
          </c:extLst>
        </c:ser>
        <c:ser>
          <c:idx val="2"/>
          <c:order val="2"/>
          <c:tx>
            <c:strRef>
              <c:f>Sheet1!$D$1</c:f>
              <c:strCache>
                <c:ptCount val="1"/>
                <c:pt idx="0">
                  <c:v>2025</c:v>
                </c:pt>
              </c:strCache>
            </c:strRef>
          </c:tx>
          <c:spPr>
            <a:solidFill>
              <a:srgbClr val="D55E00"/>
            </a:solidFill>
            <a:effectLst/>
          </c:spPr>
          <c:invertIfNegative val="0"/>
          <c:cat>
            <c:strRef>
              <c:f>Sheet1!$A$2:$A$7</c:f>
              <c:strCache>
                <c:ptCount val="6"/>
                <c:pt idx="0">
                  <c:v>Prim. Incompleto</c:v>
                </c:pt>
                <c:pt idx="1">
                  <c:v>Prim. Completo</c:v>
                </c:pt>
                <c:pt idx="2">
                  <c:v>Sec. Incompleto</c:v>
                </c:pt>
                <c:pt idx="3">
                  <c:v>Sec. Completo</c:v>
                </c:pt>
                <c:pt idx="4">
                  <c:v>Sup. Incompleto</c:v>
                </c:pt>
                <c:pt idx="5">
                  <c:v>Sup. Completo</c:v>
                </c:pt>
              </c:strCache>
            </c:strRef>
          </c:cat>
          <c:val>
            <c:numRef>
              <c:f>Sheet1!$D$2:$D$7</c:f>
              <c:numCache>
                <c:formatCode>General</c:formatCode>
                <c:ptCount val="6"/>
                <c:pt idx="0">
                  <c:v>52.2</c:v>
                </c:pt>
                <c:pt idx="1">
                  <c:v>43.3</c:v>
                </c:pt>
                <c:pt idx="2">
                  <c:v>49.7</c:v>
                </c:pt>
                <c:pt idx="3">
                  <c:v>44.8</c:v>
                </c:pt>
                <c:pt idx="4">
                  <c:v>56.6</c:v>
                </c:pt>
                <c:pt idx="5">
                  <c:v>31.9</c:v>
                </c:pt>
              </c:numCache>
            </c:numRef>
          </c:val>
          <c:extLst>
            <c:ext xmlns:c16="http://schemas.microsoft.com/office/drawing/2014/chart" uri="{C3380CC4-5D6E-409C-BE32-E72D297353CC}">
              <c16:uniqueId val="{00000002-0465-4743-BD05-7E208D3202D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DEDED"/>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Brecha relativa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595959"/>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134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103120"/>
            <a:ext cx="10881360" cy="1645920"/>
          </a:xfrm>
          <a:prstGeom prst="rect">
            <a:avLst/>
          </a:prstGeom>
          <a:noFill/>
          <a:ln/>
        </p:spPr>
        <p:txBody>
          <a:bodyPr wrap="square" rtlCol="0" anchor="t"/>
          <a:lstStyle/>
          <a:p>
            <a:pPr marL="0" indent="0" algn="l">
              <a:buNone/>
            </a:pPr>
            <a:r>
              <a:rPr lang="en-US" sz="3000" b="1" dirty="0">
                <a:solidFill>
                  <a:srgbClr val="1F1F1F"/>
                </a:solidFill>
                <a:latin typeface="Calibri" pitchFamily="34" charset="0"/>
                <a:ea typeface="Calibri" pitchFamily="34" charset="-122"/>
                <a:cs typeface="Calibri" pitchFamily="34" charset="-120"/>
              </a:rPr>
              <a:t>Brecha de ingresos formal/informal</a:t>
            </a:r>
            <a:endParaRPr lang="en-US" sz="3000" dirty="0"/>
          </a:p>
          <a:p>
            <a:pPr marL="0" indent="0" algn="l">
              <a:buNone/>
            </a:pPr>
            <a:r>
              <a:rPr lang="en-US" sz="3000" b="1" dirty="0">
                <a:solidFill>
                  <a:srgbClr val="1F1F1F"/>
                </a:solidFill>
                <a:latin typeface="Calibri" pitchFamily="34" charset="0"/>
                <a:ea typeface="Calibri" pitchFamily="34" charset="-122"/>
                <a:cs typeface="Calibri" pitchFamily="34" charset="-120"/>
              </a:rPr>
              <a:t>y su relación con educación y sector de actividad</a:t>
            </a:r>
            <a:endParaRPr lang="en-US" sz="3000" dirty="0"/>
          </a:p>
        </p:txBody>
      </p:sp>
      <p:sp>
        <p:nvSpPr>
          <p:cNvPr id="3" name="Text 1"/>
          <p:cNvSpPr/>
          <p:nvPr/>
        </p:nvSpPr>
        <p:spPr>
          <a:xfrm>
            <a:off x="640080" y="3840480"/>
            <a:ext cx="9144000" cy="73152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Ciencia de Datos para Economía y Negocios | FCE-UBA</a:t>
            </a:r>
            <a:endParaRPr lang="en-US" sz="1600" dirty="0"/>
          </a:p>
          <a:p>
            <a:pPr marL="0" indent="0">
              <a:buNone/>
            </a:pPr>
            <a:r>
              <a:rPr lang="en-US" sz="1600" dirty="0">
                <a:solidFill>
                  <a:srgbClr val="595959"/>
                </a:solidFill>
                <a:latin typeface="Calibri" pitchFamily="34" charset="0"/>
                <a:ea typeface="Calibri" pitchFamily="34" charset="-122"/>
                <a:cs typeface="Calibri" pitchFamily="34" charset="-120"/>
              </a:rPr>
              <a:t>Prof. Nicolás Sidicaro</a:t>
            </a:r>
            <a:endParaRPr lang="en-US" sz="1600" dirty="0"/>
          </a:p>
        </p:txBody>
      </p:sp>
      <p:sp>
        <p:nvSpPr>
          <p:cNvPr id="4" name="Text 2"/>
          <p:cNvSpPr/>
          <p:nvPr/>
        </p:nvSpPr>
        <p:spPr>
          <a:xfrm>
            <a:off x="640080" y="6035040"/>
            <a:ext cx="9144000" cy="457200"/>
          </a:xfrm>
          <a:prstGeom prst="rect">
            <a:avLst/>
          </a:prstGeom>
          <a:noFill/>
          <a:ln/>
        </p:spPr>
        <p:txBody>
          <a:bodyPr wrap="square" rtlCol="0" anchor="ctr"/>
          <a:lstStyle/>
          <a:p>
            <a:pPr marL="0" indent="0">
              <a:buNone/>
            </a:pPr>
            <a:r>
              <a:rPr lang="en-US" sz="1300" dirty="0">
                <a:solidFill>
                  <a:srgbClr val="595959"/>
                </a:solidFill>
                <a:latin typeface="Calibri" pitchFamily="34" charset="0"/>
                <a:ea typeface="Calibri" pitchFamily="34" charset="-122"/>
                <a:cs typeface="Calibri" pitchFamily="34" charset="-120"/>
              </a:rPr>
              <a:t>Grupo 12 — Mauro Recalde, Joaquín Olmedo, Joaquín Escalante</a:t>
            </a:r>
            <a:endParaRPr lang="en-US" sz="1300" dirty="0"/>
          </a:p>
        </p:txBody>
      </p:sp>
      <p:sp>
        <p:nvSpPr>
          <p:cNvPr id="5" name="Shape 3"/>
          <p:cNvSpPr/>
          <p:nvPr/>
        </p:nvSpPr>
        <p:spPr>
          <a:xfrm>
            <a:off x="640080" y="1874520"/>
            <a:ext cx="2011680" cy="0"/>
          </a:xfrm>
          <a:prstGeom prst="line">
            <a:avLst/>
          </a:prstGeom>
          <a:noFill/>
          <a:ln w="25400">
            <a:solidFill>
              <a:srgbClr val="0072B2"/>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Hipótesis de trabajo</a:t>
            </a:r>
            <a:endParaRPr lang="en-US" sz="2600" dirty="0"/>
          </a:p>
        </p:txBody>
      </p:sp>
      <p:sp>
        <p:nvSpPr>
          <p:cNvPr id="3" name="Text 1"/>
          <p:cNvSpPr/>
          <p:nvPr/>
        </p:nvSpPr>
        <p:spPr>
          <a:xfrm>
            <a:off x="640080" y="1280160"/>
            <a:ext cx="10881360" cy="365760"/>
          </a:xfrm>
          <a:prstGeom prst="rect">
            <a:avLst/>
          </a:prstGeom>
          <a:noFill/>
          <a:ln/>
        </p:spPr>
        <p:txBody>
          <a:bodyPr wrap="square" rtlCol="0" anchor="ctr"/>
          <a:lstStyle/>
          <a:p>
            <a:pPr marL="0" indent="0">
              <a:buNone/>
            </a:pPr>
            <a:r>
              <a:rPr lang="en-US" sz="1600" b="1" dirty="0">
                <a:solidFill>
                  <a:srgbClr val="0072B2"/>
                </a:solidFill>
                <a:latin typeface="Calibri" pitchFamily="34" charset="0"/>
                <a:ea typeface="Calibri" pitchFamily="34" charset="-122"/>
                <a:cs typeface="Calibri" pitchFamily="34" charset="-120"/>
              </a:rPr>
              <a:t>Hipótesis principal</a:t>
            </a:r>
            <a:endParaRPr lang="en-US" sz="1600" dirty="0"/>
          </a:p>
        </p:txBody>
      </p:sp>
      <p:sp>
        <p:nvSpPr>
          <p:cNvPr id="4" name="Text 2"/>
          <p:cNvSpPr/>
          <p:nvPr/>
        </p:nvSpPr>
        <p:spPr>
          <a:xfrm>
            <a:off x="640080" y="1645920"/>
            <a:ext cx="10881360" cy="640080"/>
          </a:xfrm>
          <a:prstGeom prst="rect">
            <a:avLst/>
          </a:prstGeom>
          <a:noFill/>
          <a:ln/>
        </p:spPr>
        <p:txBody>
          <a:bodyPr wrap="square" rtlCol="0" anchor="ctr"/>
          <a:lstStyle/>
          <a:p>
            <a:pPr marL="0" indent="0">
              <a:buNone/>
            </a:pPr>
            <a:r>
              <a:rPr lang="en-US" sz="1500" dirty="0">
                <a:solidFill>
                  <a:srgbClr val="1F1F1F"/>
                </a:solidFill>
                <a:latin typeface="Calibri" pitchFamily="34" charset="0"/>
                <a:ea typeface="Calibri" pitchFamily="34" charset="-122"/>
                <a:cs typeface="Calibri" pitchFamily="34" charset="-120"/>
              </a:rPr>
              <a:t>La brecha de ingresos entre asalariados formales e informales se amplía a medida que aumenta el nivel educativo alcanzado.</a:t>
            </a:r>
            <a:endParaRPr lang="en-US" sz="1500" dirty="0"/>
          </a:p>
        </p:txBody>
      </p:sp>
      <p:sp>
        <p:nvSpPr>
          <p:cNvPr id="5" name="Text 3"/>
          <p:cNvSpPr/>
          <p:nvPr/>
        </p:nvSpPr>
        <p:spPr>
          <a:xfrm>
            <a:off x="640080" y="2468880"/>
            <a:ext cx="10881360" cy="365760"/>
          </a:xfrm>
          <a:prstGeom prst="rect">
            <a:avLst/>
          </a:prstGeom>
          <a:noFill/>
          <a:ln/>
        </p:spPr>
        <p:txBody>
          <a:bodyPr wrap="square" rtlCol="0" anchor="ctr"/>
          <a:lstStyle/>
          <a:p>
            <a:pPr marL="0" indent="0">
              <a:buNone/>
            </a:pPr>
            <a:r>
              <a:rPr lang="en-US" sz="1600" b="1" dirty="0">
                <a:solidFill>
                  <a:srgbClr val="0072B2"/>
                </a:solidFill>
                <a:latin typeface="Calibri" pitchFamily="34" charset="0"/>
                <a:ea typeface="Calibri" pitchFamily="34" charset="-122"/>
                <a:cs typeface="Calibri" pitchFamily="34" charset="-120"/>
              </a:rPr>
              <a:t>Hipótesis complementaria 1</a:t>
            </a:r>
            <a:endParaRPr lang="en-US" sz="1600" dirty="0"/>
          </a:p>
        </p:txBody>
      </p:sp>
      <p:sp>
        <p:nvSpPr>
          <p:cNvPr id="6" name="Text 4"/>
          <p:cNvSpPr/>
          <p:nvPr/>
        </p:nvSpPr>
        <p:spPr>
          <a:xfrm>
            <a:off x="640080" y="2834640"/>
            <a:ext cx="10881360" cy="548640"/>
          </a:xfrm>
          <a:prstGeom prst="rect">
            <a:avLst/>
          </a:prstGeom>
          <a:noFill/>
          <a:ln/>
        </p:spPr>
        <p:txBody>
          <a:bodyPr wrap="square" rtlCol="0" anchor="ctr"/>
          <a:lstStyle/>
          <a:p>
            <a:pPr marL="0" indent="0">
              <a:buNone/>
            </a:pPr>
            <a:r>
              <a:rPr lang="en-US" sz="1500" dirty="0">
                <a:solidFill>
                  <a:srgbClr val="1F1F1F"/>
                </a:solidFill>
                <a:latin typeface="Calibri" pitchFamily="34" charset="0"/>
                <a:ea typeface="Calibri" pitchFamily="34" charset="-122"/>
                <a:cs typeface="Calibri" pitchFamily="34" charset="-120"/>
              </a:rPr>
              <a:t>La probabilidad de inserción en la informalidad está asociada inversamente al nivel educativo.</a:t>
            </a:r>
            <a:endParaRPr lang="en-US" sz="1500" dirty="0"/>
          </a:p>
        </p:txBody>
      </p:sp>
      <p:sp>
        <p:nvSpPr>
          <p:cNvPr id="7" name="Text 5"/>
          <p:cNvSpPr/>
          <p:nvPr/>
        </p:nvSpPr>
        <p:spPr>
          <a:xfrm>
            <a:off x="640080" y="3566160"/>
            <a:ext cx="10881360" cy="365760"/>
          </a:xfrm>
          <a:prstGeom prst="rect">
            <a:avLst/>
          </a:prstGeom>
          <a:noFill/>
          <a:ln/>
        </p:spPr>
        <p:txBody>
          <a:bodyPr wrap="square" rtlCol="0" anchor="ctr"/>
          <a:lstStyle/>
          <a:p>
            <a:pPr marL="0" indent="0">
              <a:buNone/>
            </a:pPr>
            <a:r>
              <a:rPr lang="en-US" sz="1600" b="1" dirty="0">
                <a:solidFill>
                  <a:srgbClr val="0072B2"/>
                </a:solidFill>
                <a:latin typeface="Calibri" pitchFamily="34" charset="0"/>
                <a:ea typeface="Calibri" pitchFamily="34" charset="-122"/>
                <a:cs typeface="Calibri" pitchFamily="34" charset="-120"/>
              </a:rPr>
              <a:t>Hipótesis complementaria 2</a:t>
            </a:r>
            <a:endParaRPr lang="en-US" sz="1600" dirty="0"/>
          </a:p>
        </p:txBody>
      </p:sp>
      <p:sp>
        <p:nvSpPr>
          <p:cNvPr id="8" name="Text 6"/>
          <p:cNvSpPr/>
          <p:nvPr/>
        </p:nvSpPr>
        <p:spPr>
          <a:xfrm>
            <a:off x="640080" y="3931920"/>
            <a:ext cx="10881360" cy="822960"/>
          </a:xfrm>
          <a:prstGeom prst="rect">
            <a:avLst/>
          </a:prstGeom>
          <a:noFill/>
          <a:ln/>
        </p:spPr>
        <p:txBody>
          <a:bodyPr wrap="square" rtlCol="0" anchor="ctr"/>
          <a:lstStyle/>
          <a:p>
            <a:pPr marL="0" indent="0">
              <a:buNone/>
            </a:pPr>
            <a:r>
              <a:rPr lang="en-US" sz="1500" dirty="0">
                <a:solidFill>
                  <a:srgbClr val="1F1F1F"/>
                </a:solidFill>
                <a:latin typeface="Calibri" pitchFamily="34" charset="0"/>
                <a:ea typeface="Calibri" pitchFamily="34" charset="-122"/>
                <a:cs typeface="Calibri" pitchFamily="34" charset="-120"/>
              </a:rPr>
              <a:t>La informalidad no se distribuye al azar entre sectores de actividad: se concentra de forma estructural y persistente en sectores específicos (construcción, servicio doméstico, comercio).</a:t>
            </a:r>
            <a:endParaRPr lang="en-US" sz="1500" dirty="0"/>
          </a:p>
        </p:txBody>
      </p:sp>
      <p:sp>
        <p:nvSpPr>
          <p:cNvPr id="9" name="Text 7"/>
          <p:cNvSpPr/>
          <p:nvPr/>
        </p:nvSpPr>
        <p:spPr>
          <a:xfrm>
            <a:off x="640080" y="6126480"/>
            <a:ext cx="10881360" cy="36576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Datos: EPH-INDEC, 3er trimestre de 2017, 2021 y 2025 — asalariados ocupados (CAT_OCUP = 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Base de datos y tratamiento previo</a:t>
            </a:r>
            <a:endParaRPr lang="en-US" sz="2600" dirty="0"/>
          </a:p>
        </p:txBody>
      </p:sp>
      <p:sp>
        <p:nvSpPr>
          <p:cNvPr id="3" name="Text 1"/>
          <p:cNvSpPr/>
          <p:nvPr/>
        </p:nvSpPr>
        <p:spPr>
          <a:xfrm>
            <a:off x="640080" y="1371600"/>
            <a:ext cx="10881360" cy="2377440"/>
          </a:xfrm>
          <a:prstGeom prst="rect">
            <a:avLst/>
          </a:prstGeom>
          <a:noFill/>
          <a:ln/>
        </p:spPr>
        <p:txBody>
          <a:bodyPr wrap="square" rtlCol="0" anchor="ctr"/>
          <a:lstStyle/>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Fuente: </a:t>
            </a:r>
            <a:r>
              <a:rPr lang="en-US" sz="1500" dirty="0">
                <a:solidFill>
                  <a:srgbClr val="1F1F1F"/>
                </a:solidFill>
                <a:latin typeface="Calibri" pitchFamily="34" charset="0"/>
                <a:ea typeface="Calibri" pitchFamily="34" charset="-122"/>
                <a:cs typeface="Calibri" pitchFamily="34" charset="-120"/>
              </a:rPr>
              <a:t>microdatos individuales de la EPH (INDEC).</a:t>
            </a:r>
            <a:endParaRPr lang="en-US" sz="1500" dirty="0"/>
          </a:p>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Universo: </a:t>
            </a:r>
            <a:r>
              <a:rPr lang="en-US" sz="1500" dirty="0">
                <a:solidFill>
                  <a:srgbClr val="1F1F1F"/>
                </a:solidFill>
                <a:latin typeface="Calibri" pitchFamily="34" charset="0"/>
                <a:ea typeface="Calibri" pitchFamily="34" charset="-122"/>
                <a:cs typeface="Calibri" pitchFamily="34" charset="-120"/>
              </a:rPr>
              <a:t>asalariados ocupados (se excluyen cuentapropistas y patrones, donde el descuento jubilatorio no es un proxy válido de informalidad).</a:t>
            </a:r>
            <a:endParaRPr lang="en-US" sz="1500" dirty="0"/>
          </a:p>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Períodos: </a:t>
            </a:r>
            <a:r>
              <a:rPr lang="en-US" sz="1500" dirty="0">
                <a:solidFill>
                  <a:srgbClr val="1F1F1F"/>
                </a:solidFill>
                <a:latin typeface="Calibri" pitchFamily="34" charset="0"/>
                <a:ea typeface="Calibri" pitchFamily="34" charset="-122"/>
                <a:cs typeface="Calibri" pitchFamily="34" charset="-120"/>
              </a:rPr>
              <a:t>tres cortes transversales — 3er trimestre de 2017, 2021 y 2025.</a:t>
            </a:r>
            <a:endParaRPr lang="en-US" sz="1500" dirty="0"/>
          </a:p>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Sector de actividad: </a:t>
            </a:r>
            <a:r>
              <a:rPr lang="en-US" sz="1500" dirty="0">
                <a:solidFill>
                  <a:srgbClr val="1F1F1F"/>
                </a:solidFill>
                <a:latin typeface="Calibri" pitchFamily="34" charset="0"/>
                <a:ea typeface="Calibri" pitchFamily="34" charset="-122"/>
                <a:cs typeface="Calibri" pitchFamily="34" charset="-120"/>
              </a:rPr>
              <a:t>clasificación CAES (14 ramas, paquete eph) para evitar celdas vacías en los tests posteriores.</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4023360"/>
          <a:ext cx="7772400" cy="1584960"/>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N total observado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 datos inválidos (no responde / ingreso $0)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18.013</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15,1%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14.793</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15,4%</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14.396</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19,0%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40080" y="5760720"/>
            <a:ext cx="10881360" cy="457200"/>
          </a:xfrm>
          <a:prstGeom prst="rect">
            <a:avLst/>
          </a:prstGeom>
          <a:noFill/>
          <a:ln/>
        </p:spPr>
        <p:txBody>
          <a:bodyPr wrap="square"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Tratamiento de outliers: winsorización al percentil 99 de cada año (381 casos sobre 39.488 válidos, ~0,96%).</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Estadísticas descriptivas del ingreso (ponderadas por PONDIIO)</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2834643"/>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404949">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Condición</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Media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Mediana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Desvío estándar</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$16.912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$15.000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$8.875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Informal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$7.842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$6.500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$6.044</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$60.582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$55.000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$33.448</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Informal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$27.279</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$23.462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$1.152.478</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$1.000.000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$657.091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Informal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$569.007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$500.000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$446.737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640080" y="4389120"/>
            <a:ext cx="10881360" cy="914400"/>
          </a:xfrm>
          <a:prstGeom prst="rect">
            <a:avLst/>
          </a:prstGeom>
          <a:noFill/>
          <a:ln/>
        </p:spPr>
        <p:txBody>
          <a:bodyPr wrap="square"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La mediana es menor que la media en los seis grupos, consistente con la asimetría a la derecha típica de los ingresos. Los valores no son comparables en magnitud entre años por la inflación acumulada (no se deflactó: el análisis se centra en brechas relativas, no en niveles absolutos).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A mayor nivel educativo, mayor proporción de formalidad</a:t>
            </a:r>
            <a:endParaRPr lang="en-US" sz="2600" dirty="0"/>
          </a:p>
        </p:txBody>
      </p:sp>
      <p:pic>
        <p:nvPicPr>
          <p:cNvPr id="3" name="Image 0" descr="/mnt/user-data/uploads/WhatsApp_Image_2026-06-26_at_20_39_36.jpeg"/>
          <p:cNvPicPr>
            <a:picLocks noChangeAspect="1"/>
          </p:cNvPicPr>
          <p:nvPr/>
        </p:nvPicPr>
        <p:blipFill>
          <a:blip r:embed="rId3"/>
          <a:srcRect/>
          <a:stretch/>
        </p:blipFill>
        <p:spPr>
          <a:xfrm>
            <a:off x="2194560" y="1143000"/>
            <a:ext cx="7772400" cy="5120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Brecha de ingresos entre formales e informales (2025)</a:t>
            </a:r>
            <a:endParaRPr lang="en-US" sz="2600" dirty="0"/>
          </a:p>
        </p:txBody>
      </p:sp>
      <p:pic>
        <p:nvPicPr>
          <p:cNvPr id="3" name="Image 0" descr="/mnt/user-data/uploads/WhatsApp_Image_2026-06-26_at_20_39_37.jpeg"/>
          <p:cNvPicPr>
            <a:picLocks noChangeAspect="1"/>
          </p:cNvPicPr>
          <p:nvPr/>
        </p:nvPicPr>
        <p:blipFill>
          <a:blip r:embed="rId3"/>
          <a:srcRect/>
          <a:stretch/>
        </p:blipFill>
        <p:spPr>
          <a:xfrm>
            <a:off x="2377440" y="1143000"/>
            <a:ext cx="7406640" cy="5120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Test de diferencia de ingresos por educación (hipótesis principal)</a:t>
            </a:r>
            <a:endParaRPr lang="en-US" sz="2600" dirty="0"/>
          </a:p>
        </p:txBody>
      </p:sp>
      <p:sp>
        <p:nvSpPr>
          <p:cNvPr id="3" name="Text 1"/>
          <p:cNvSpPr/>
          <p:nvPr/>
        </p:nvSpPr>
        <p:spPr>
          <a:xfrm>
            <a:off x="640080" y="1143000"/>
            <a:ext cx="10881360" cy="365760"/>
          </a:xfrm>
          <a:prstGeom prst="rect">
            <a:avLst/>
          </a:prstGeom>
          <a:noFill/>
          <a:ln/>
        </p:spPr>
        <p:txBody>
          <a:bodyPr wrap="square" rtlCol="0" anchor="ctr"/>
          <a:lstStyle/>
          <a:p>
            <a:pPr marL="0" indent="0">
              <a:buNone/>
            </a:pPr>
            <a:r>
              <a:rPr lang="en-US" sz="1300" dirty="0">
                <a:solidFill>
                  <a:srgbClr val="595959"/>
                </a:solidFill>
                <a:latin typeface="Calibri" pitchFamily="34" charset="0"/>
                <a:ea typeface="Calibri" pitchFamily="34" charset="-122"/>
                <a:cs typeface="Calibri" pitchFamily="34" charset="-120"/>
              </a:rPr>
              <a:t>t-test de Welch, ponderado, por nivel educativo — brecha relativa (% del ingreso formal)</a:t>
            </a:r>
            <a:endParaRPr lang="en-US" sz="1300" dirty="0"/>
          </a:p>
        </p:txBody>
      </p:sp>
      <p:graphicFrame>
        <p:nvGraphicFramePr>
          <p:cNvPr id="4" name="Chart 0"/>
          <p:cNvGraphicFramePr/>
          <p:nvPr/>
        </p:nvGraphicFramePr>
        <p:xfrm>
          <a:off x="640080" y="1645920"/>
          <a:ext cx="108813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40080" y="5943600"/>
            <a:ext cx="10881360" cy="64008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Significativa en las 18 combinaciones (p &lt; 0,001). Se amplía con la educación hasta "Superior Incompleto"; en "Superior Completo" se reduce de forma consistente en los tres años.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Regresión de la brecha educativa (hipótesis principal)</a:t>
            </a:r>
            <a:endParaRPr lang="en-US" sz="2600" dirty="0"/>
          </a:p>
        </p:txBody>
      </p:sp>
      <p:sp>
        <p:nvSpPr>
          <p:cNvPr id="3" name="Text 1"/>
          <p:cNvSpPr/>
          <p:nvPr/>
        </p:nvSpPr>
        <p:spPr>
          <a:xfrm>
            <a:off x="640080" y="1188720"/>
            <a:ext cx="10881360" cy="822960"/>
          </a:xfrm>
          <a:prstGeom prst="rect">
            <a:avLst/>
          </a:prstGeom>
          <a:noFill/>
          <a:ln/>
        </p:spPr>
        <p:txBody>
          <a:bodyPr wrap="square" rtlCol="0" anchor="ctr"/>
          <a:lstStyle/>
          <a:p>
            <a:pPr marL="0" indent="0">
              <a:buNone/>
            </a:pPr>
            <a:r>
              <a:rPr lang="en-US" sz="1300" dirty="0">
                <a:solidFill>
                  <a:srgbClr val="1F1F1F"/>
                </a:solidFill>
                <a:latin typeface="Calibri" pitchFamily="34" charset="0"/>
                <a:ea typeface="Calibri" pitchFamily="34" charset="-122"/>
                <a:cs typeface="Calibri" pitchFamily="34" charset="-120"/>
              </a:rPr>
              <a:t>Regresión ponderada (svyglm): ingreso ~ formalidad × nivel educativo + sexo + edad + edad². Región y sector se excluyeron como controles: combinados con la interacción generaban 34 de 168 celdas con menos de 10 casos en 2025.</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881360" cy="2377440"/>
        </p:xfrm>
        <a:graphic>
          <a:graphicData uri="http://schemas.openxmlformats.org/drawingml/2006/table">
            <a:tbl>
              <a:tblPr/>
              <a:tblGrid>
                <a:gridCol w="11887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59436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Coeficientes de la interacción</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Significativos (p&lt;0,05)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Lectura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943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Negativos, crecientes en magnitud</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 de 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Confirma la hipótesis con solidez</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Negativos, mismo sentido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3 de 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Confirma, con menor fuerza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lgn="l">
                        <a:buNone/>
                      </a:pPr>
                      <a:r>
                        <a:rPr lang="en-US" sz="1300" dirty="0">
                          <a:solidFill>
                            <a:srgbClr val="D55E00"/>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D55E00"/>
                          </a:solidFill>
                          <a:latin typeface="Calibri" pitchFamily="34" charset="0"/>
                          <a:ea typeface="Calibri" pitchFamily="34" charset="-122"/>
                          <a:cs typeface="Calibri" pitchFamily="34" charset="-120"/>
                        </a:rPr>
                        <a:t>Sin patrón claro, errores estándar inestables</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D55E00"/>
                          </a:solidFill>
                          <a:latin typeface="Calibri" pitchFamily="34" charset="0"/>
                          <a:ea typeface="Calibri" pitchFamily="34" charset="-122"/>
                          <a:cs typeface="Calibri" pitchFamily="34" charset="-120"/>
                        </a:rPr>
                        <a:t>0 de 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D55E00"/>
                          </a:solidFill>
                          <a:latin typeface="Calibri" pitchFamily="34" charset="0"/>
                          <a:ea typeface="Calibri" pitchFamily="34" charset="-122"/>
                          <a:cs typeface="Calibri" pitchFamily="34" charset="-120"/>
                        </a:rPr>
                        <a:t>No concluyente — "Primario Incompleto" tiene solo 239 casos ese 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40080" y="5029200"/>
            <a:ext cx="10881360" cy="82296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La inflación no explica este patrón: afecta la magnitud nominal de los coeficientes entre años (por eso se reporta la brecha relativa en el método anterior), pero no genera por sí sola errores estándar mayores que la propia estimación.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Chi-cuadrado de independencia (hipótesis complementarias)</a:t>
            </a:r>
            <a:endParaRPr lang="en-US" sz="2600" dirty="0"/>
          </a:p>
        </p:txBody>
      </p:sp>
      <p:sp>
        <p:nvSpPr>
          <p:cNvPr id="3" name="Text 1"/>
          <p:cNvSpPr/>
          <p:nvPr/>
        </p:nvSpPr>
        <p:spPr>
          <a:xfrm>
            <a:off x="640080" y="1188720"/>
            <a:ext cx="5120640" cy="365760"/>
          </a:xfrm>
          <a:prstGeom prst="rect">
            <a:avLst/>
          </a:prstGeom>
          <a:noFill/>
          <a:ln/>
        </p:spPr>
        <p:txBody>
          <a:bodyPr wrap="square" rtlCol="0" anchor="ctr"/>
          <a:lstStyle/>
          <a:p>
            <a:pPr marL="0" indent="0">
              <a:buNone/>
            </a:pPr>
            <a:r>
              <a:rPr lang="en-US" sz="1500" b="1" dirty="0">
                <a:solidFill>
                  <a:srgbClr val="0072B2"/>
                </a:solidFill>
                <a:latin typeface="Calibri" pitchFamily="34" charset="0"/>
                <a:ea typeface="Calibri" pitchFamily="34" charset="-122"/>
                <a:cs typeface="Calibri" pitchFamily="34" charset="-120"/>
              </a:rPr>
              <a:t>Hipótesis complementaria 1 — educación × formalidad</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5120640" cy="1463040"/>
        </p:xfrm>
        <a:graphic>
          <a:graphicData uri="http://schemas.openxmlformats.org/drawingml/2006/table">
            <a:tbl>
              <a:tblPr/>
              <a:tblGrid>
                <a:gridCol w="170688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Chi²</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p-valor</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1.381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1.232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1.247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40080" y="3200400"/>
            <a:ext cx="5120640" cy="64008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Informalidad: ~78% en "Primario Incompleto" → ~34% en "Superior Completo" (2025).</a:t>
            </a:r>
            <a:endParaRPr lang="en-US" sz="1200" dirty="0"/>
          </a:p>
        </p:txBody>
      </p:sp>
      <p:sp>
        <p:nvSpPr>
          <p:cNvPr id="6" name="Text 3"/>
          <p:cNvSpPr/>
          <p:nvPr/>
        </p:nvSpPr>
        <p:spPr>
          <a:xfrm>
            <a:off x="6126480" y="1188720"/>
            <a:ext cx="5394960" cy="365760"/>
          </a:xfrm>
          <a:prstGeom prst="rect">
            <a:avLst/>
          </a:prstGeom>
          <a:noFill/>
          <a:ln/>
        </p:spPr>
        <p:txBody>
          <a:bodyPr wrap="square" rtlCol="0" anchor="ctr"/>
          <a:lstStyle/>
          <a:p>
            <a:pPr marL="0" indent="0">
              <a:buNone/>
            </a:pPr>
            <a:r>
              <a:rPr lang="en-US" sz="1500" b="1" dirty="0">
                <a:solidFill>
                  <a:srgbClr val="D55E00"/>
                </a:solidFill>
                <a:latin typeface="Calibri" pitchFamily="34" charset="0"/>
                <a:ea typeface="Calibri" pitchFamily="34" charset="-122"/>
                <a:cs typeface="Calibri" pitchFamily="34" charset="-120"/>
              </a:rPr>
              <a:t>Hipótesis complementaria 2 — sector × formalidad</a:t>
            </a:r>
            <a:endParaRPr lang="en-US" sz="15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126480" y="1600200"/>
          <a:ext cx="5394960" cy="2103120"/>
        </p:xfrm>
        <a:graphic>
          <a:graphicData uri="http://schemas.openxmlformats.org/drawingml/2006/table">
            <a:tbl>
              <a:tblPr/>
              <a:tblGrid>
                <a:gridCol w="1798320">
                  <a:extLst>
                    <a:ext uri="{9D8B030D-6E8A-4147-A177-3AD203B41FA5}">
                      <a16:colId xmlns:a16="http://schemas.microsoft.com/office/drawing/2014/main" val="20000"/>
                    </a:ext>
                  </a:extLst>
                </a:gridCol>
                <a:gridCol w="1798320">
                  <a:extLst>
                    <a:ext uri="{9D8B030D-6E8A-4147-A177-3AD203B41FA5}">
                      <a16:colId xmlns:a16="http://schemas.microsoft.com/office/drawing/2014/main" val="20001"/>
                    </a:ext>
                  </a:extLst>
                </a:gridCol>
                <a:gridCol w="1798320">
                  <a:extLst>
                    <a:ext uri="{9D8B030D-6E8A-4147-A177-3AD203B41FA5}">
                      <a16:colId xmlns:a16="http://schemas.microsoft.com/office/drawing/2014/main" val="20002"/>
                    </a:ext>
                  </a:extLst>
                </a:gridCol>
              </a:tblGrid>
              <a:tr h="350520">
                <a:tc>
                  <a:txBody>
                    <a:bodyPr/>
                    <a:lstStyle/>
                    <a:p>
                      <a:pPr marL="0" indent="0" algn="l">
                        <a:buNone/>
                      </a:pPr>
                      <a:r>
                        <a:rPr lang="en-US" sz="1200" b="1" dirty="0">
                          <a:solidFill>
                            <a:srgbClr val="1F1F1F"/>
                          </a:solidFill>
                          <a:latin typeface="Calibri" pitchFamily="34" charset="0"/>
                          <a:ea typeface="Calibri" pitchFamily="34" charset="-122"/>
                          <a:cs typeface="Calibri" pitchFamily="34" charset="-120"/>
                        </a:rPr>
                        <a:t>Sector</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1F1F1F"/>
                          </a:solidFill>
                          <a:latin typeface="Calibri" pitchFamily="34" charset="0"/>
                          <a:ea typeface="Calibri" pitchFamily="34" charset="-122"/>
                          <a:cs typeface="Calibri" pitchFamily="34" charset="-120"/>
                        </a:rPr>
                        <a:t>% informal 2017</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1F1F1F"/>
                          </a:solidFill>
                          <a:latin typeface="Calibri" pitchFamily="34" charset="0"/>
                          <a:ea typeface="Calibri" pitchFamily="34" charset="-122"/>
                          <a:cs typeface="Calibri" pitchFamily="34" charset="-120"/>
                        </a:rPr>
                        <a:t>% informal 2025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Servicio doméstico</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73,4%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80,5%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Construcción</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66,3%</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65,0%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Comercio</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42,4%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44,5%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Enseñanza</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Admin. pública</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6126480" y="3840480"/>
            <a:ext cx="5394960" cy="82296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Chi² ponderado significativo en los 3 años (p&lt;0,001 en cada uno). Servicio doméstico y construcción: núcleo estable. Comercio: más variable año a año.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Conclusión</a:t>
            </a:r>
            <a:endParaRPr lang="en-US" sz="2600" dirty="0"/>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500" b="1" dirty="0">
                <a:solidFill>
                  <a:srgbClr val="0072B2"/>
                </a:solidFill>
                <a:latin typeface="Calibri" pitchFamily="34" charset="0"/>
                <a:ea typeface="Calibri" pitchFamily="34" charset="-122"/>
                <a:cs typeface="Calibri" pitchFamily="34" charset="-120"/>
              </a:rPr>
              <a:t>Hipótesis principal — se comprueba de forma parcial y matizada</a:t>
            </a:r>
            <a:endParaRPr lang="en-US" sz="1500" dirty="0"/>
          </a:p>
        </p:txBody>
      </p:sp>
      <p:sp>
        <p:nvSpPr>
          <p:cNvPr id="4" name="Text 2"/>
          <p:cNvSpPr/>
          <p:nvPr/>
        </p:nvSpPr>
        <p:spPr>
          <a:xfrm>
            <a:off x="640080" y="1554480"/>
            <a:ext cx="10881360" cy="914400"/>
          </a:xfrm>
          <a:prstGeom prst="rect">
            <a:avLst/>
          </a:prstGeom>
          <a:noFill/>
          <a:ln/>
        </p:spPr>
        <p:txBody>
          <a:bodyPr wrap="square" rtlCol="0" anchor="ctr"/>
          <a:lstStyle/>
          <a:p>
            <a:pPr marL="0" indent="0">
              <a:buNone/>
            </a:pPr>
            <a:r>
              <a:rPr lang="en-US" sz="1400" dirty="0">
                <a:solidFill>
                  <a:srgbClr val="1F1F1F"/>
                </a:solidFill>
                <a:latin typeface="Calibri" pitchFamily="34" charset="0"/>
                <a:ea typeface="Calibri" pitchFamily="34" charset="-122"/>
                <a:cs typeface="Calibri" pitchFamily="34" charset="-120"/>
              </a:rPr>
              <a:t>La brecha existe y se amplía con la educación, pero solo hasta "Superior Incompleto"; en "Superior Completo" se reduce de forma consistente en los tres años. La regresión confirma esto con solidez en 2017, más débil en 2021, y no es concluyente en 2025 por tamaño de muestra.</a:t>
            </a:r>
            <a:endParaRPr lang="en-US" sz="1400" dirty="0"/>
          </a:p>
        </p:txBody>
      </p:sp>
      <p:sp>
        <p:nvSpPr>
          <p:cNvPr id="5" name="Text 3"/>
          <p:cNvSpPr/>
          <p:nvPr/>
        </p:nvSpPr>
        <p:spPr>
          <a:xfrm>
            <a:off x="640080" y="2606040"/>
            <a:ext cx="10881360" cy="365760"/>
          </a:xfrm>
          <a:prstGeom prst="rect">
            <a:avLst/>
          </a:prstGeom>
          <a:noFill/>
          <a:ln/>
        </p:spPr>
        <p:txBody>
          <a:bodyPr wrap="square" rtlCol="0" anchor="ctr"/>
          <a:lstStyle/>
          <a:p>
            <a:pPr marL="0" indent="0">
              <a:buNone/>
            </a:pPr>
            <a:r>
              <a:rPr lang="en-US" sz="1500" b="1" dirty="0">
                <a:solidFill>
                  <a:srgbClr val="0072B2"/>
                </a:solidFill>
                <a:latin typeface="Calibri" pitchFamily="34" charset="0"/>
                <a:ea typeface="Calibri" pitchFamily="34" charset="-122"/>
                <a:cs typeface="Calibri" pitchFamily="34" charset="-120"/>
              </a:rPr>
              <a:t>Hipótesis complementaria 1 — se comprueba</a:t>
            </a:r>
            <a:endParaRPr lang="en-US" sz="1500" dirty="0"/>
          </a:p>
        </p:txBody>
      </p:sp>
      <p:sp>
        <p:nvSpPr>
          <p:cNvPr id="6" name="Text 4"/>
          <p:cNvSpPr/>
          <p:nvPr/>
        </p:nvSpPr>
        <p:spPr>
          <a:xfrm>
            <a:off x="640080" y="2971800"/>
            <a:ext cx="10881360" cy="640080"/>
          </a:xfrm>
          <a:prstGeom prst="rect">
            <a:avLst/>
          </a:prstGeom>
          <a:noFill/>
          <a:ln/>
        </p:spPr>
        <p:txBody>
          <a:bodyPr wrap="square" rtlCol="0" anchor="ctr"/>
          <a:lstStyle/>
          <a:p>
            <a:pPr marL="0" indent="0">
              <a:buNone/>
            </a:pPr>
            <a:r>
              <a:rPr lang="en-US" sz="1400" dirty="0">
                <a:solidFill>
                  <a:srgbClr val="1F1F1F"/>
                </a:solidFill>
                <a:latin typeface="Calibri" pitchFamily="34" charset="0"/>
                <a:ea typeface="Calibri" pitchFamily="34" charset="-122"/>
                <a:cs typeface="Calibri" pitchFamily="34" charset="-120"/>
              </a:rPr>
              <a:t>La proporción de informales cae de forma sostenida y estable a medida que aumenta el nivel educativo, en los tres años analizados.</a:t>
            </a:r>
            <a:endParaRPr lang="en-US" sz="1400" dirty="0"/>
          </a:p>
        </p:txBody>
      </p:sp>
      <p:sp>
        <p:nvSpPr>
          <p:cNvPr id="7" name="Text 5"/>
          <p:cNvSpPr/>
          <p:nvPr/>
        </p:nvSpPr>
        <p:spPr>
          <a:xfrm>
            <a:off x="640080" y="3749040"/>
            <a:ext cx="10881360" cy="365760"/>
          </a:xfrm>
          <a:prstGeom prst="rect">
            <a:avLst/>
          </a:prstGeom>
          <a:noFill/>
          <a:ln/>
        </p:spPr>
        <p:txBody>
          <a:bodyPr wrap="square" rtlCol="0" anchor="ctr"/>
          <a:lstStyle/>
          <a:p>
            <a:pPr marL="0" indent="0">
              <a:buNone/>
            </a:pPr>
            <a:r>
              <a:rPr lang="en-US" sz="1500" b="1" dirty="0">
                <a:solidFill>
                  <a:srgbClr val="0072B2"/>
                </a:solidFill>
                <a:latin typeface="Calibri" pitchFamily="34" charset="0"/>
                <a:ea typeface="Calibri" pitchFamily="34" charset="-122"/>
                <a:cs typeface="Calibri" pitchFamily="34" charset="-120"/>
              </a:rPr>
              <a:t>Hipótesis complementaria 2 — se comprueba</a:t>
            </a:r>
            <a:endParaRPr lang="en-US" sz="1500" dirty="0"/>
          </a:p>
        </p:txBody>
      </p:sp>
      <p:sp>
        <p:nvSpPr>
          <p:cNvPr id="8" name="Text 6"/>
          <p:cNvSpPr/>
          <p:nvPr/>
        </p:nvSpPr>
        <p:spPr>
          <a:xfrm>
            <a:off x="640080" y="4114800"/>
            <a:ext cx="10881360" cy="914400"/>
          </a:xfrm>
          <a:prstGeom prst="rect">
            <a:avLst/>
          </a:prstGeom>
          <a:noFill/>
          <a:ln/>
        </p:spPr>
        <p:txBody>
          <a:bodyPr wrap="square" rtlCol="0" anchor="ctr"/>
          <a:lstStyle/>
          <a:p>
            <a:pPr marL="0" indent="0">
              <a:buNone/>
            </a:pPr>
            <a:r>
              <a:rPr lang="en-US" sz="1400" dirty="0">
                <a:solidFill>
                  <a:srgbClr val="1F1F1F"/>
                </a:solidFill>
                <a:latin typeface="Calibri" pitchFamily="34" charset="0"/>
                <a:ea typeface="Calibri" pitchFamily="34" charset="-122"/>
                <a:cs typeface="Calibri" pitchFamily="34" charset="-120"/>
              </a:rPr>
              <a:t>La informalidad se concentra estructuralmente en determinados sectores. Servicio doméstico y construcción forman un núcleo muy estable a lo largo de ocho años con contextos macroeconómicos distintos; otros sectores (comercio) muestran más variación.</a:t>
            </a:r>
            <a:endParaRPr lang="en-US" sz="1400" dirty="0"/>
          </a:p>
        </p:txBody>
      </p:sp>
      <p:sp>
        <p:nvSpPr>
          <p:cNvPr id="9" name="Text 7"/>
          <p:cNvSpPr/>
          <p:nvPr/>
        </p:nvSpPr>
        <p:spPr>
          <a:xfrm>
            <a:off x="640080" y="5257800"/>
            <a:ext cx="10881360" cy="73152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La informalidad laboral en Argentina no es un fenómeno aleatorio: está asociada de forma clara al nivel educativo y concentrada de forma estructural en sectores específicos de baja productividad.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Limitaciones y próximos pasos</a:t>
            </a:r>
            <a:endParaRPr lang="en-US" sz="2600" dirty="0"/>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Limitaciones del análisis actual</a:t>
            </a:r>
            <a:endParaRPr lang="en-US" sz="1500" dirty="0"/>
          </a:p>
        </p:txBody>
      </p:sp>
      <p:sp>
        <p:nvSpPr>
          <p:cNvPr id="4" name="Text 2"/>
          <p:cNvSpPr/>
          <p:nvPr/>
        </p:nvSpPr>
        <p:spPr>
          <a:xfrm>
            <a:off x="822960" y="1600200"/>
            <a:ext cx="10515600" cy="1463040"/>
          </a:xfrm>
          <a:prstGeom prst="rect">
            <a:avLst/>
          </a:prstGeom>
          <a:noFill/>
          <a:ln/>
        </p:spPr>
        <p:txBody>
          <a:bodyPr wrap="square" rtlCol="0" anchor="ctr"/>
          <a:lstStyle/>
          <a:p>
            <a:pPr marL="342900" indent="-342900">
              <a:lnSpc>
                <a:spcPct val="130000"/>
              </a:lnSpc>
              <a:buSzPct val="100000"/>
              <a:buChar char="•"/>
            </a:pPr>
            <a:r>
              <a:rPr lang="en-US" sz="1500" dirty="0">
                <a:solidFill>
                  <a:srgbClr val="1F1F1F"/>
                </a:solidFill>
              </a:rPr>
              <a:t>PP07H (descuento jubilatorio) no distingue ausencia de aportes de aportes a cajas jubilatorias provinciales.</a:t>
            </a:r>
            <a:endParaRPr lang="en-US" sz="1500" dirty="0"/>
          </a:p>
          <a:p>
            <a:pPr marL="342900" indent="-342900">
              <a:lnSpc>
                <a:spcPct val="130000"/>
              </a:lnSpc>
              <a:buSzPct val="100000"/>
              <a:buChar char="•"/>
            </a:pPr>
            <a:r>
              <a:rPr lang="en-US" sz="1500" dirty="0">
                <a:solidFill>
                  <a:srgbClr val="1F1F1F"/>
                </a:solidFill>
              </a:rPr>
              <a:t>La regresión no incluye región ni sector como control, por celdas insuficientes en 2025.</a:t>
            </a:r>
            <a:endParaRPr lang="en-US" sz="1500" dirty="0"/>
          </a:p>
          <a:p>
            <a:pPr marL="342900" indent="-342900">
              <a:lnSpc>
                <a:spcPct val="130000"/>
              </a:lnSpc>
              <a:buSzPct val="100000"/>
              <a:buChar char="•"/>
            </a:pPr>
            <a:r>
              <a:rPr lang="en-US" sz="1500" dirty="0">
                <a:solidFill>
                  <a:srgbClr val="1F1F1F"/>
                </a:solidFill>
              </a:rPr>
              <a:t>Los coeficientes de la regresión para 2025 no son concluyentes (tamaño de "Primario Incompleto": 239 casos).</a:t>
            </a:r>
            <a:endParaRPr lang="en-US" sz="1500" dirty="0"/>
          </a:p>
        </p:txBody>
      </p:sp>
      <p:sp>
        <p:nvSpPr>
          <p:cNvPr id="5" name="Text 3"/>
          <p:cNvSpPr/>
          <p:nvPr/>
        </p:nvSpPr>
        <p:spPr>
          <a:xfrm>
            <a:off x="640080" y="3291840"/>
            <a:ext cx="10881360" cy="36576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Líneas de profundización futuras</a:t>
            </a:r>
            <a:endParaRPr lang="en-US" sz="1500" dirty="0"/>
          </a:p>
        </p:txBody>
      </p:sp>
      <p:sp>
        <p:nvSpPr>
          <p:cNvPr id="6" name="Text 4"/>
          <p:cNvSpPr/>
          <p:nvPr/>
        </p:nvSpPr>
        <p:spPr>
          <a:xfrm>
            <a:off x="822960" y="3703320"/>
            <a:ext cx="10515600" cy="1737360"/>
          </a:xfrm>
          <a:prstGeom prst="rect">
            <a:avLst/>
          </a:prstGeom>
          <a:noFill/>
          <a:ln/>
        </p:spPr>
        <p:txBody>
          <a:bodyPr wrap="square" rtlCol="0" anchor="ctr"/>
          <a:lstStyle/>
          <a:p>
            <a:pPr marL="342900" indent="-342900">
              <a:lnSpc>
                <a:spcPct val="125000"/>
              </a:lnSpc>
              <a:buSzPct val="100000"/>
              <a:buChar char="•"/>
            </a:pPr>
            <a:r>
              <a:rPr lang="en-US" sz="1500" dirty="0">
                <a:solidFill>
                  <a:srgbClr val="1F1F1F"/>
                </a:solidFill>
              </a:rPr>
              <a:t>Dimensión longitudinal: explotar el panel rotativo de la EPH (diseño 2-2-2) para seguir individuos a lo largo de 4 trimestres, aislar efectos fijos no observables (habilidades, motivación) y modelar transiciones formal ↔ informal.</a:t>
            </a:r>
            <a:endParaRPr lang="en-US" sz="1500" dirty="0"/>
          </a:p>
          <a:p>
            <a:pPr marL="342900" indent="-342900">
              <a:lnSpc>
                <a:spcPct val="125000"/>
              </a:lnSpc>
              <a:buSzPct val="100000"/>
              <a:buChar char="•"/>
            </a:pPr>
            <a:r>
              <a:rPr lang="en-US" sz="1500" dirty="0">
                <a:solidFill>
                  <a:srgbClr val="1F1F1F"/>
                </a:solidFill>
              </a:rPr>
              <a:t>Heterogeneidad regional: desagregar por aglomerado o región estadística — la agregación nacional puede promediar realidades muy distintas (NEA/NOA vs. GBA/Patagonia) y ocultar si la interacción educación × formalidad depende de la estructura productiva local.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1078</Words>
  <Application>Microsoft Office PowerPoint</Application>
  <PresentationFormat>Widescreen</PresentationFormat>
  <Paragraphs>155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Informalidad laboral y nivel educativo - EPH 2017-2025</dc:title>
  <dc:subject>PptxGenJS Presentation</dc:subject>
  <dc:creator>Grupo 12</dc:creator>
  <cp:lastModifiedBy>Joaquin Olmedo</cp:lastModifiedBy>
  <cp:revision>1</cp:revision>
  <dcterms:created xsi:type="dcterms:W3CDTF">2026-06-27T01:25:35Z</dcterms:created>
  <dcterms:modified xsi:type="dcterms:W3CDTF">2026-06-27T01:28:28Z</dcterms:modified>
</cp:coreProperties>
</file>